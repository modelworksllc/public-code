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9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C673E-EBDD-4CFF-B0CB-A6393144CEF2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22D28-163D-4F14-9B64-BB7EF06F9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6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B4E8-6E75-034E-1BE6-D1FC861EC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079FB-47F1-B83A-575E-4A4285C40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B486-599E-C09E-E256-FEBEF8D1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BB48C-460F-BD68-E940-C00C7366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5C248-2D9E-6C36-86EE-DD6BC289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41AB-E467-26E1-62EA-94D6D118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9E34-5B25-E9BC-FB6C-96433658E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D75E0-ED9F-13AB-315F-29F53E3C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0043E-AC7B-C039-E9F0-641DD02E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99A7-07A9-0CB5-80F1-5EF39202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9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1F69-2052-2973-07EA-397668F3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42B1D-05DB-F37B-B578-C523D932E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63530-E257-C72F-61AA-E9F3EC28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50851-4B91-D53D-66A4-CA2960DD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E64D-8D49-5262-214C-75569A70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E54A-4C34-3784-40E6-51D5EC11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E85FE-6AF0-A549-5D9E-14F6700D4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962BA-9E7E-4B1B-A747-0C6CE7282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AF20A-E2A8-FA44-AACC-DE20E906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26E33-BF04-77F8-41F7-5D88A68C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43F6-4B19-871C-B251-F7C73084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3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0411-5365-7309-F85E-463940FD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6D35-9087-AEBA-322F-D27D15E1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CF94-2F6B-44E5-BE80-7D48CE2BC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7DCA6-8D80-8D2B-A208-23D44FB89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B06CE-342C-DB29-CAA0-7B9E01B4F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4D480C-787E-0769-613C-E96D3334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855E0-4F05-7631-FF4D-3FFCB6BA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C4EA0-26B5-27D7-DA68-5CB434BD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7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D9BE-09ED-061C-C921-F1FC067A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E90EC-2302-7864-CCBD-1515C7ED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DA791-5767-9B5A-F82E-D8684A0D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BAD74-09F0-3E7F-40B2-E5953A92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6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57A6A-0C3F-6822-A0DF-7C349958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0902E-2CF5-5AC8-9127-25077DA3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96C83-BB41-F4A2-91EA-234A6EC8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2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3052-0DBB-6FE4-15D5-893C0730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6F4E0-ADCB-52E4-BF7D-0DE07E353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15424-99CE-85DD-1431-2379B2D87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87250-430C-188A-28E9-CAF5542E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A4F4A-8C87-3207-F552-0E6994CE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08EF-5AD0-C173-CF1C-1C8EF6A5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7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F2C4-8F59-F4CC-652D-576B81D3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309FB-0781-1C0B-0B95-879C6B67B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758DB-7AD4-88E5-C395-6967AB273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2F099-C7B7-75B3-7612-C4C97362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85536-05D5-DC30-1776-8DC4FBD3D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4F4EA-633A-E831-41D6-7E6CEFC3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4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C8F7-A32A-C70E-DEBA-B3CF62BD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9499C-B692-FCF2-947A-D02B843F1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2E34-6E53-567E-7AF4-F8EE6D7B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CC35F-D6C4-38F7-710A-AC420A0D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AD5CB-1613-53A0-362F-C77067CE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6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812B69-A10A-000D-0AA7-3CAEC81E1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44EB5-E2AD-8EE1-342B-0F28D5E82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4DC7D-5904-684E-0B03-3419CE43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174C2-E419-6B09-7D91-98275D72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2B48-B8C9-CD5F-B6AA-67D1430C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5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FC34CA-1518-F63F-9C96-75EFEB76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0261D-51A6-8B33-38EC-9BD060B7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F89E0-A225-7E58-6300-E38F0105A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3AD09-FE13-F3BC-0E8B-0EDA76804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F3D7-091A-6297-1A81-7FE268957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DE555-0EC8-4B6D-8D47-32E0933B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7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7/docs/api/index.html?java/util/overvie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gold text on a black background&#10;&#10;AI-generated content may be incorrect.">
            <a:extLst>
              <a:ext uri="{FF2B5EF4-FFF2-40B4-BE49-F238E27FC236}">
                <a16:creationId xmlns:a16="http://schemas.microsoft.com/office/drawing/2014/main" id="{7421C128-6B7B-12BB-D8C4-ABB3ECC2DD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19" y="261437"/>
            <a:ext cx="6597361" cy="6335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0BB74D-12F3-7CF2-AB03-B9568EF4DEFB}"/>
              </a:ext>
            </a:extLst>
          </p:cNvPr>
          <p:cNvSpPr txBox="1"/>
          <p:nvPr/>
        </p:nvSpPr>
        <p:spPr>
          <a:xfrm>
            <a:off x="838199" y="2598003"/>
            <a:ext cx="10515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venir Next LT Pro Light" panose="020F0502020204030204" pitchFamily="34" charset="0"/>
              </a:rPr>
              <a:t>Model Works: Structured Expressions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90B3203-A97C-B5F6-01CE-BC0DF711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7/30/2025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299006E-9CF7-9180-9DE7-AC374137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Model Works LLC - Proprietary Information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CCB2B5A-F5FA-B530-0AB3-F6E5A819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766E8-BF85-E06C-8049-48EDCB53D506}"/>
              </a:ext>
            </a:extLst>
          </p:cNvPr>
          <p:cNvSpPr txBox="1"/>
          <p:nvPr/>
        </p:nvSpPr>
        <p:spPr>
          <a:xfrm>
            <a:off x="836676" y="3429000"/>
            <a:ext cx="8477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venir Next LT Pro Light" panose="020F0502020204030204" pitchFamily="34" charset="0"/>
              </a:rPr>
              <a:t>Presented By: Michael Toriello</a:t>
            </a:r>
          </a:p>
        </p:txBody>
      </p:sp>
    </p:spTree>
    <p:extLst>
      <p:ext uri="{BB962C8B-B14F-4D97-AF65-F5344CB8AC3E}">
        <p14:creationId xmlns:p14="http://schemas.microsoft.com/office/powerpoint/2010/main" val="162418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B9EE3-FB05-EEAD-D893-48374AED8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94" y="164640"/>
            <a:ext cx="2100842" cy="2151270"/>
          </a:xfrm>
        </p:spPr>
        <p:txBody>
          <a:bodyPr>
            <a:normAutofit/>
          </a:bodyPr>
          <a:lstStyle/>
          <a:p>
            <a:r>
              <a:rPr lang="en-US" sz="1400" dirty="0"/>
              <a:t>Uses</a:t>
            </a:r>
          </a:p>
          <a:p>
            <a:pPr lvl="1"/>
            <a:r>
              <a:rPr lang="en-US" sz="1200" dirty="0"/>
              <a:t>Custom columns</a:t>
            </a:r>
          </a:p>
          <a:p>
            <a:pPr lvl="1"/>
            <a:r>
              <a:rPr lang="en-US" sz="1200" dirty="0"/>
              <a:t>Derived properties</a:t>
            </a:r>
          </a:p>
          <a:p>
            <a:pPr lvl="1"/>
            <a:r>
              <a:rPr lang="en-US" sz="1200" dirty="0"/>
              <a:t>Opaque behaviors/actions/expressions</a:t>
            </a:r>
          </a:p>
          <a:p>
            <a:pPr lvl="1"/>
            <a:r>
              <a:rPr lang="en-US" sz="1200" dirty="0"/>
              <a:t>Constraints/validation rules</a:t>
            </a:r>
          </a:p>
          <a:p>
            <a:pPr lvl="1"/>
            <a:r>
              <a:rPr lang="en-US" sz="1200" dirty="0"/>
              <a:t>Smart packages</a:t>
            </a:r>
          </a:p>
          <a:p>
            <a:pPr lvl="1"/>
            <a:r>
              <a:rPr lang="en-US" sz="1200" dirty="0"/>
              <a:t>Dynamic legends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E4073-C7B3-EB5A-7FE0-BF535889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4FBFF-A154-D379-2122-D16E44AF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3544E-2E94-D13A-0E00-315E195C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9C4848-5163-8750-2AF7-71B0E01D4C2B}"/>
              </a:ext>
            </a:extLst>
          </p:cNvPr>
          <p:cNvSpPr txBox="1">
            <a:spLocks/>
          </p:cNvSpPr>
          <p:nvPr/>
        </p:nvSpPr>
        <p:spPr>
          <a:xfrm>
            <a:off x="163795" y="2315910"/>
            <a:ext cx="2331578" cy="2717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Operations</a:t>
            </a:r>
          </a:p>
          <a:p>
            <a:pPr lvl="1"/>
            <a:r>
              <a:rPr lang="en-US" sz="1200" dirty="0"/>
              <a:t>Simple Navigation</a:t>
            </a:r>
          </a:p>
          <a:p>
            <a:pPr lvl="1"/>
            <a:r>
              <a:rPr lang="en-US" sz="1200" dirty="0"/>
              <a:t>Metachain Navigation</a:t>
            </a:r>
          </a:p>
          <a:p>
            <a:pPr lvl="1"/>
            <a:r>
              <a:rPr lang="en-US" sz="1200" dirty="0"/>
              <a:t>Find</a:t>
            </a:r>
          </a:p>
          <a:p>
            <a:pPr lvl="1"/>
            <a:r>
              <a:rPr lang="en-US" sz="1200" dirty="0"/>
              <a:t>Filter</a:t>
            </a:r>
          </a:p>
          <a:p>
            <a:pPr lvl="1"/>
            <a:r>
              <a:rPr lang="en-US" sz="1200" dirty="0"/>
              <a:t>Implied Relation</a:t>
            </a:r>
          </a:p>
          <a:p>
            <a:pPr lvl="1"/>
            <a:r>
              <a:rPr lang="en-US" sz="1200" dirty="0"/>
              <a:t>Type Test</a:t>
            </a:r>
          </a:p>
          <a:p>
            <a:pPr lvl="1"/>
            <a:r>
              <a:rPr lang="en-US" sz="1200" dirty="0"/>
              <a:t>Property Test</a:t>
            </a:r>
          </a:p>
          <a:p>
            <a:pPr lvl="1"/>
            <a:r>
              <a:rPr lang="en-US" sz="1200" dirty="0"/>
              <a:t>Union</a:t>
            </a:r>
          </a:p>
          <a:p>
            <a:pPr lvl="1"/>
            <a:r>
              <a:rPr lang="en-US" sz="1200" dirty="0"/>
              <a:t>Exclude</a:t>
            </a:r>
          </a:p>
          <a:p>
            <a:pPr lvl="1"/>
            <a:r>
              <a:rPr lang="en-US" sz="1200" dirty="0"/>
              <a:t>Operation from Model</a:t>
            </a:r>
          </a:p>
          <a:p>
            <a:pPr lvl="1"/>
            <a:r>
              <a:rPr lang="en-US" sz="1200" dirty="0"/>
              <a:t>Script</a:t>
            </a:r>
          </a:p>
          <a:p>
            <a:pPr lvl="1"/>
            <a:endParaRPr lang="en-US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9F28DC-A9A3-2331-A42B-70602E002127}"/>
              </a:ext>
            </a:extLst>
          </p:cNvPr>
          <p:cNvSpPr txBox="1">
            <a:spLocks/>
          </p:cNvSpPr>
          <p:nvPr/>
        </p:nvSpPr>
        <p:spPr>
          <a:xfrm>
            <a:off x="2495374" y="164640"/>
            <a:ext cx="2331578" cy="2082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Value Types</a:t>
            </a:r>
          </a:p>
          <a:p>
            <a:pPr lvl="1"/>
            <a:r>
              <a:rPr lang="en-US" sz="1200" dirty="0"/>
              <a:t>Element</a:t>
            </a:r>
          </a:p>
          <a:p>
            <a:pPr lvl="1"/>
            <a:r>
              <a:rPr lang="en-US" sz="1200" dirty="0"/>
              <a:t>String</a:t>
            </a:r>
          </a:p>
          <a:p>
            <a:pPr lvl="1"/>
            <a:r>
              <a:rPr lang="en-US" sz="1200" dirty="0"/>
              <a:t>Boolean</a:t>
            </a:r>
          </a:p>
          <a:p>
            <a:pPr lvl="1"/>
            <a:r>
              <a:rPr lang="en-US" sz="1200" dirty="0"/>
              <a:t>Integer</a:t>
            </a:r>
          </a:p>
          <a:p>
            <a:pPr lvl="1"/>
            <a:r>
              <a:rPr lang="en-US" sz="1200" dirty="0"/>
              <a:t>Real</a:t>
            </a:r>
          </a:p>
          <a:p>
            <a:pPr lvl="1"/>
            <a:r>
              <a:rPr lang="en-US" sz="1200" dirty="0"/>
              <a:t>Null</a:t>
            </a:r>
          </a:p>
          <a:p>
            <a:pPr lvl="1"/>
            <a:r>
              <a:rPr lang="en-US" sz="1200" dirty="0"/>
              <a:t>Collection</a:t>
            </a:r>
          </a:p>
          <a:p>
            <a:pPr lvl="1"/>
            <a:endParaRPr lang="en-US" sz="1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F5DA13-29BD-913D-F6C6-55C133836157}"/>
              </a:ext>
            </a:extLst>
          </p:cNvPr>
          <p:cNvSpPr txBox="1">
            <a:spLocks/>
          </p:cNvSpPr>
          <p:nvPr/>
        </p:nvSpPr>
        <p:spPr>
          <a:xfrm>
            <a:off x="2495373" y="2037474"/>
            <a:ext cx="2238997" cy="842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Other</a:t>
            </a:r>
          </a:p>
          <a:p>
            <a:pPr lvl="1"/>
            <a:r>
              <a:rPr lang="en-US" sz="1200" dirty="0"/>
              <a:t>Execute</a:t>
            </a:r>
          </a:p>
          <a:p>
            <a:pPr lvl="1"/>
            <a:r>
              <a:rPr lang="en-US" sz="1200" dirty="0"/>
              <a:t>Contextual Variable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279F9B6-C1E8-6BB0-5324-23CF2D95B2B0}"/>
              </a:ext>
            </a:extLst>
          </p:cNvPr>
          <p:cNvSpPr txBox="1">
            <a:spLocks/>
          </p:cNvSpPr>
          <p:nvPr/>
        </p:nvSpPr>
        <p:spPr>
          <a:xfrm>
            <a:off x="2495372" y="2802542"/>
            <a:ext cx="2238997" cy="1535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Operations from Model</a:t>
            </a:r>
          </a:p>
          <a:p>
            <a:pPr lvl="1"/>
            <a:r>
              <a:rPr lang="en-US" sz="1300" dirty="0"/>
              <a:t>General</a:t>
            </a:r>
          </a:p>
          <a:p>
            <a:pPr lvl="1"/>
            <a:r>
              <a:rPr lang="en-US" sz="1300" dirty="0"/>
              <a:t>Collection</a:t>
            </a:r>
          </a:p>
          <a:p>
            <a:pPr lvl="1"/>
            <a:r>
              <a:rPr lang="en-US" sz="1300" dirty="0"/>
              <a:t>Date</a:t>
            </a:r>
          </a:p>
          <a:p>
            <a:pPr lvl="1"/>
            <a:r>
              <a:rPr lang="en-US" sz="1300" dirty="0"/>
              <a:t>Deprecated</a:t>
            </a:r>
          </a:p>
          <a:p>
            <a:pPr lvl="1"/>
            <a:r>
              <a:rPr lang="en-US" sz="1300" dirty="0"/>
              <a:t>Logical</a:t>
            </a:r>
          </a:p>
          <a:p>
            <a:pPr lvl="1"/>
            <a:r>
              <a:rPr lang="en-US" sz="1300" dirty="0"/>
              <a:t>String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807EF3-C63C-B5FA-34F0-D5DC2E7E5450}"/>
              </a:ext>
            </a:extLst>
          </p:cNvPr>
          <p:cNvSpPr txBox="1">
            <a:spLocks/>
          </p:cNvSpPr>
          <p:nvPr/>
        </p:nvSpPr>
        <p:spPr>
          <a:xfrm>
            <a:off x="2495372" y="4338300"/>
            <a:ext cx="2238997" cy="1729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Complex Expressions</a:t>
            </a:r>
          </a:p>
          <a:p>
            <a:pPr lvl="1"/>
            <a:r>
              <a:rPr lang="en-US" sz="1200" dirty="0"/>
              <a:t>Defining Logic Trees</a:t>
            </a:r>
          </a:p>
          <a:p>
            <a:pPr lvl="1"/>
            <a:r>
              <a:rPr lang="en-US" sz="1200" dirty="0"/>
              <a:t>Nested Operations</a:t>
            </a:r>
          </a:p>
          <a:p>
            <a:pPr lvl="1"/>
            <a:r>
              <a:rPr lang="en-US" sz="1200" dirty="0"/>
              <a:t>User-defined Opaque Behaviors</a:t>
            </a:r>
          </a:p>
          <a:p>
            <a:pPr lvl="2"/>
            <a:r>
              <a:rPr lang="en-US" sz="800" dirty="0"/>
              <a:t>With Parameters</a:t>
            </a:r>
          </a:p>
          <a:p>
            <a:pPr lvl="1"/>
            <a:r>
              <a:rPr lang="en-US" sz="1200" dirty="0"/>
              <a:t>Re-usable Smart Package Queries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92FFC6-B154-F96A-25C8-548255125D1A}"/>
              </a:ext>
            </a:extLst>
          </p:cNvPr>
          <p:cNvSpPr txBox="1">
            <a:spLocks/>
          </p:cNvSpPr>
          <p:nvPr/>
        </p:nvSpPr>
        <p:spPr>
          <a:xfrm>
            <a:off x="4826952" y="164640"/>
            <a:ext cx="2331578" cy="2082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Navigating the Specification Window</a:t>
            </a:r>
            <a:endParaRPr lang="en-US" sz="1200" dirty="0"/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179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096A-D598-139F-B9FB-C900728F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782E1-8537-E5A8-8E22-A892BE89D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API Specification</a:t>
            </a:r>
            <a:br>
              <a:rPr lang="en-US" dirty="0"/>
            </a:br>
            <a:r>
              <a:rPr lang="en-US" sz="200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https://docs.oracle.com/javase/7/docs/api/index.html?java/util/overview</a:t>
            </a:r>
            <a:endParaRPr lang="en-US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49FC4-11FB-E60E-A451-85B2D7B6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2710-9AF7-C39A-03A7-50CB0F08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Model Works LLC - Proprietary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C4F5A-36FE-E7EB-31BD-E0A6F4C1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DE555-0EC8-4B6D-8D47-32E0933B30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3281DFA9617B438FF3533DBB164F7E" ma:contentTypeVersion="4" ma:contentTypeDescription="Create a new document." ma:contentTypeScope="" ma:versionID="a2f2d319c4ebfb85db4a704becb5968e">
  <xsd:schema xmlns:xsd="http://www.w3.org/2001/XMLSchema" xmlns:xs="http://www.w3.org/2001/XMLSchema" xmlns:p="http://schemas.microsoft.com/office/2006/metadata/properties" xmlns:ns3="7c8895d6-37fa-4eca-9c1b-e7c0d8eb4afc" targetNamespace="http://schemas.microsoft.com/office/2006/metadata/properties" ma:root="true" ma:fieldsID="83904324d436432f939e5fe38e7a55bd" ns3:_="">
    <xsd:import namespace="7c8895d6-37fa-4eca-9c1b-e7c0d8eb4a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8895d6-37fa-4eca-9c1b-e7c0d8eb4a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A57382-BD63-4624-A10C-C9D267B9C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89EF0A-C009-45F9-920C-C8E74E3BF9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8895d6-37fa-4eca-9c1b-e7c0d8eb4a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4EE1AE-4F78-47F6-B8F2-085DE1343F24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7c8895d6-37fa-4eca-9c1b-e7c0d8eb4afc"/>
    <ds:schemaRef ds:uri="http://purl.org/dc/elements/1.1/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18336</TotalTime>
  <Words>154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Avenir Next LT Pro Light</vt:lpstr>
      <vt:lpstr>Office Theme</vt:lpstr>
      <vt:lpstr>PowerPoint Presentation</vt:lpstr>
      <vt:lpstr>PowerPoint Presentation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Toriello</dc:creator>
  <cp:lastModifiedBy>Michael Toriello</cp:lastModifiedBy>
  <cp:revision>6</cp:revision>
  <dcterms:created xsi:type="dcterms:W3CDTF">2025-07-10T15:18:44Z</dcterms:created>
  <dcterms:modified xsi:type="dcterms:W3CDTF">2025-07-30T20:00:22Z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0x010100093281DFA9617B438FF3533DBB164F7E</vt:lpwstr>
  </property>
</Properties>
</file>